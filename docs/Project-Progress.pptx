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324" r:id="rId5"/>
    <p:sldId id="302" r:id="rId6"/>
    <p:sldId id="328" r:id="rId7"/>
    <p:sldId id="329" r:id="rId8"/>
    <p:sldId id="330" r:id="rId9"/>
    <p:sldId id="331" r:id="rId10"/>
    <p:sldId id="332" r:id="rId11"/>
    <p:sldId id="334" r:id="rId12"/>
    <p:sldId id="335" r:id="rId13"/>
    <p:sldId id="336" r:id="rId14"/>
    <p:sldId id="337" r:id="rId15"/>
    <p:sldId id="338" r:id="rId16"/>
    <p:sldId id="333" r:id="rId17"/>
    <p:sldId id="31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3/25/2025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3/25/2025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1AD702D-965C-40E9-8D23-D82E2CFA9E61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3/25/2025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A05B6A-9124-4DBB-843A-84818A8F79FC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xfrm>
            <a:off x="0" y="0"/>
            <a:ext cx="12192000" cy="6858000"/>
          </a:xfrm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29714" y="856330"/>
            <a:ext cx="5976963" cy="5236560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Instructor: Md Rafiqul Islam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/>
              <a:t>Course: System Design, Engineering, and Testing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FAF4E3-C8A2-4861-A67E-040D885F84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Smart Dustbin for City Waste Management 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26767" y="4110482"/>
            <a:ext cx="3480651" cy="1517153"/>
          </a:xfrm>
        </p:spPr>
        <p:txBody>
          <a:bodyPr/>
          <a:lstStyle/>
          <a:p>
            <a:r>
              <a:rPr lang="en-US" dirty="0"/>
              <a:t>March  25, 2025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1783C-2FBD-153A-C6B5-D9D54FFAEA56}"/>
              </a:ext>
            </a:extLst>
          </p:cNvPr>
          <p:cNvSpPr/>
          <p:nvPr/>
        </p:nvSpPr>
        <p:spPr>
          <a:xfrm>
            <a:off x="429208" y="4655976"/>
            <a:ext cx="2379306" cy="185679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Presented By</a:t>
            </a:r>
          </a:p>
          <a:p>
            <a:r>
              <a:rPr lang="en-US" sz="1600" dirty="0"/>
              <a:t>Sadiya Islam Mou(2101028)</a:t>
            </a:r>
            <a:br>
              <a:rPr lang="en-US" sz="1600" dirty="0"/>
            </a:br>
            <a:r>
              <a:rPr lang="en-US" sz="1600" dirty="0"/>
              <a:t>Md.Zahid Hasan[2101032]</a:t>
            </a:r>
          </a:p>
          <a:p>
            <a:r>
              <a:rPr lang="en-US" sz="1600" dirty="0" err="1"/>
              <a:t>Md.Sajid</a:t>
            </a:r>
            <a:r>
              <a:rPr lang="en-US" sz="1600" dirty="0"/>
              <a:t> Islam[2101034]</a:t>
            </a:r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Course Overview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1792942"/>
            <a:ext cx="4275138" cy="3812522"/>
          </a:xfrm>
        </p:spPr>
        <p:txBody>
          <a:bodyPr/>
          <a:lstStyle/>
          <a:p>
            <a:r>
              <a:rPr lang="en-US" dirty="0"/>
              <a:t>This course focuses on building a business-oriented project </a:t>
            </a:r>
          </a:p>
          <a:p>
            <a:r>
              <a:rPr lang="en-US" dirty="0"/>
              <a:t> Implementation of System Design, Engineering, and Testing concepts</a:t>
            </a:r>
          </a:p>
          <a:p>
            <a:r>
              <a:rPr lang="en-US" dirty="0"/>
              <a:t>  Incorporates principles of SDLC, scheduling, requirement specification, and risk management </a:t>
            </a: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F71CB3C7-661C-41E3-B866-71C8428266E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1154" r="1154"/>
          <a:stretch/>
        </p:blipFill>
        <p:spPr>
          <a:xfrm>
            <a:off x="5796169" y="613214"/>
            <a:ext cx="5855754" cy="5631571"/>
          </a:xfrm>
        </p:spPr>
      </p:pic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D92C4-5EAA-4656-BD43-4C9E83AEE9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061363"/>
            <a:ext cx="5067300" cy="2935288"/>
          </a:xfrm>
        </p:spPr>
        <p:txBody>
          <a:bodyPr/>
          <a:lstStyle/>
          <a:p>
            <a:r>
              <a:rPr lang="en-US" dirty="0"/>
              <a:t> Traditional waste collection methods are inefficient</a:t>
            </a:r>
          </a:p>
          <a:p>
            <a:r>
              <a:rPr lang="en-US" dirty="0"/>
              <a:t>  Overflowing bins create unhygienic conditions</a:t>
            </a:r>
          </a:p>
          <a:p>
            <a:r>
              <a:rPr lang="en-US" dirty="0"/>
              <a:t>  Lack of real-time monitoring and delayed cleaning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32E170-5DAE-4F5C-82FE-570FEEE22B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Proposed Solution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0B18A9-2724-4BAA-AE0F-434E81B60FE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Implementation of Smart Dustbins with ESP32 and Ultrasonic Sensors </a:t>
            </a:r>
          </a:p>
          <a:p>
            <a:r>
              <a:rPr lang="en-US" dirty="0"/>
              <a:t> Real-time monitoring using IoT and Cloud-based data storage</a:t>
            </a:r>
          </a:p>
          <a:p>
            <a:r>
              <a:rPr lang="en-US" dirty="0"/>
              <a:t>  Automated notification system for authorities </a:t>
            </a:r>
          </a:p>
          <a:p>
            <a:r>
              <a:rPr lang="en-US" dirty="0"/>
              <a:t> Integration of risk and configuration management for system stability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ADDC2A27-50D1-4F50-90B1-688EFE787955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2"/>
          <a:srcRect t="1202" b="1202"/>
          <a:stretch/>
        </p:blipFill>
        <p:spPr>
          <a:xfrm>
            <a:off x="9261475" y="-26988"/>
            <a:ext cx="2930525" cy="1560513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CE8EB725-28AB-48DC-A76E-4663C26A1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3308759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622B693-0322-4E8F-B72E-1FD55E306E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1600" dirty="0"/>
              <a:t>Microcontroller - ESP32 for data processing and communication</a:t>
            </a:r>
          </a:p>
          <a:p>
            <a:r>
              <a:rPr lang="en-US" sz="1600" dirty="0"/>
              <a:t> Sensors - Ultrasonic sensors to measure trash levels</a:t>
            </a:r>
          </a:p>
          <a:p>
            <a:r>
              <a:rPr lang="en-US" sz="1600" dirty="0"/>
              <a:t>  Communication Module - </a:t>
            </a:r>
            <a:r>
              <a:rPr lang="en-US" sz="1600" dirty="0" err="1"/>
              <a:t>WiFi</a:t>
            </a:r>
            <a:r>
              <a:rPr lang="en-US" sz="1600" dirty="0"/>
              <a:t>/MQTT for cloud connectivity</a:t>
            </a:r>
          </a:p>
          <a:p>
            <a:r>
              <a:rPr lang="en-US" sz="1600" dirty="0"/>
              <a:t>  Cloud Platform - Data storage and analysis using MQTT</a:t>
            </a:r>
          </a:p>
          <a:p>
            <a:r>
              <a:rPr lang="en-US" sz="1600" dirty="0"/>
              <a:t>  Notification System - SMS alerts to authorities </a:t>
            </a:r>
          </a:p>
          <a:p>
            <a:r>
              <a:rPr lang="en-US" sz="1600" dirty="0"/>
              <a:t> Risk &amp; Configuration Management - Ensuring system stability and security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5F08DE-8A13-4D1D-A0ED-B9F2FAB2F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System Components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5C94CE-E6EE-4CFE-8B2D-6997A5334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063" y="1636210"/>
            <a:ext cx="2356861" cy="21049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C98CA4-D801-490F-8B10-7AAB3819C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0912" y="3825081"/>
            <a:ext cx="2600688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694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63F979-5805-462C-8BC4-6B22B24D29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Planning Stage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46E29-82DA-4604-944E-3DB65C67F1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800" dirty="0"/>
              <a:t>Research existing waste management problems in cities </a:t>
            </a:r>
          </a:p>
          <a:p>
            <a:r>
              <a:rPr lang="en-US" sz="1800" dirty="0"/>
              <a:t> Define project scope, objectives, and expected outcomes</a:t>
            </a:r>
          </a:p>
          <a:p>
            <a:r>
              <a:rPr lang="en-US" sz="1800" dirty="0"/>
              <a:t>  Conduct feasibility analysis (technical, economic, operational)</a:t>
            </a:r>
          </a:p>
          <a:p>
            <a:r>
              <a:rPr lang="en-US" sz="1800" dirty="0"/>
              <a:t>  Identify necessary hardware, software, and cloud resources</a:t>
            </a:r>
          </a:p>
          <a:p>
            <a:r>
              <a:rPr lang="en-US" sz="1800" dirty="0"/>
              <a:t>  Establish timeline and budget estimation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A84DB3-44E2-4D78-B914-057E2CB5E5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Analysis Stage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DBE120-4582-42B8-8093-7B0D81D27D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Gather data from municipal waste management authorities</a:t>
            </a:r>
          </a:p>
          <a:p>
            <a:r>
              <a:rPr lang="en-US" dirty="0"/>
              <a:t>  Identify requirements for IoT connectivity, data storage, and real-time monitoring</a:t>
            </a:r>
          </a:p>
          <a:p>
            <a:r>
              <a:rPr lang="en-US" dirty="0"/>
              <a:t>  Develop Software Requirement Specification (SRS) document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820B333-4B42-4E76-A3C8-336A0A346E3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9C09A0B-2EEB-499A-8BAB-029A70D62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System Development Life Cycle (SDLC) - Planning &amp; Analysis </a:t>
            </a:r>
          </a:p>
        </p:txBody>
      </p:sp>
    </p:spTree>
    <p:extLst>
      <p:ext uri="{BB962C8B-B14F-4D97-AF65-F5344CB8AC3E}">
        <p14:creationId xmlns:p14="http://schemas.microsoft.com/office/powerpoint/2010/main" val="3428411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949E2A-F70B-4646-A74D-7770F50EF0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Design &amp; Prototyping Stage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16FF3A-C271-4E6D-A5CF-CDCFBA9485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Develop block diagram for system architecture </a:t>
            </a:r>
          </a:p>
          <a:p>
            <a:r>
              <a:rPr lang="en-US" dirty="0"/>
              <a:t> Select hardware (ESP32, ultrasonic sensors, communication module) </a:t>
            </a:r>
          </a:p>
          <a:p>
            <a:r>
              <a:rPr lang="en-US" dirty="0"/>
              <a:t> Design cloud-based architecture for MQTT data handling </a:t>
            </a:r>
          </a:p>
          <a:p>
            <a:r>
              <a:rPr lang="en-US" dirty="0"/>
              <a:t> Build a prototype to test sensor readings and connectivity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B8FB7D-7203-4A83-AECD-47DB48C1D5A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Development Stage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68D557-E043-4073-808A-ABC98D08C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Program ESP32 for sensor data collection and transmission </a:t>
            </a:r>
          </a:p>
          <a:p>
            <a:r>
              <a:rPr lang="en-US" dirty="0"/>
              <a:t> Configure MQTT broker for real-time data monitoring </a:t>
            </a:r>
          </a:p>
          <a:p>
            <a:r>
              <a:rPr lang="en-US" dirty="0"/>
              <a:t> Implement cloud database for bin status tracking </a:t>
            </a:r>
          </a:p>
          <a:p>
            <a:r>
              <a:rPr lang="en-US" dirty="0"/>
              <a:t> Develop SMS notification system for authorities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665C49C-F587-46E8-AABB-1F5B1A23503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31BB9DF-800F-4CD7-8997-9F3CAB011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System Development Life Cycle (SDLC) - Design &amp; Development </a:t>
            </a:r>
          </a:p>
        </p:txBody>
      </p:sp>
    </p:spTree>
    <p:extLst>
      <p:ext uri="{BB962C8B-B14F-4D97-AF65-F5344CB8AC3E}">
        <p14:creationId xmlns:p14="http://schemas.microsoft.com/office/powerpoint/2010/main" val="594247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6F9543-E935-4E19-8EB8-4EA3587FD8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Testing Stage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4F9BC-A705-4757-96E6-000F427AA1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Test sensor accuracy for waste level detection</a:t>
            </a:r>
          </a:p>
          <a:p>
            <a:r>
              <a:rPr lang="en-US" dirty="0"/>
              <a:t>  Validate MQTT communication and cloud data reception</a:t>
            </a:r>
          </a:p>
          <a:p>
            <a:r>
              <a:rPr lang="en-US" dirty="0"/>
              <a:t>  Conduct unit testing for ESP32 firmware</a:t>
            </a:r>
          </a:p>
          <a:p>
            <a:r>
              <a:rPr lang="en-US" dirty="0"/>
              <a:t>  Perform integration testing with SMS notification system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93998F-DA5C-4AF3-9767-8686FA26E9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1600" dirty="0"/>
              <a:t>Maintenance &amp; Improvement Stage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7CD1CE-ECF5-46BB-9594-B840EF057B5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Regular system updates and bug fixes </a:t>
            </a:r>
          </a:p>
          <a:p>
            <a:r>
              <a:rPr lang="en-US" dirty="0"/>
              <a:t> Optimize sensor power consumption for efficiency</a:t>
            </a:r>
          </a:p>
          <a:p>
            <a:r>
              <a:rPr lang="en-US" dirty="0"/>
              <a:t>  Expand system scalability for additional smart bins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818831-2CA6-4372-ACCF-8085A81438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1800" dirty="0"/>
              <a:t>Deployment &amp; Integration Stage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7F2A4A-7049-430F-9A31-76BCF24E2A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Deploy smart dustbins in selected locations</a:t>
            </a:r>
          </a:p>
          <a:p>
            <a:r>
              <a:rPr lang="en-US" dirty="0"/>
              <a:t>  Monitor data transmission in real-time</a:t>
            </a:r>
          </a:p>
          <a:p>
            <a:r>
              <a:rPr lang="en-US" dirty="0"/>
              <a:t>  Train municipal workers on system usage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7EF5192-87DD-49C7-AF26-C429557FD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System Development Life Cycle (SDLC) - Testing &amp; Deployment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EF849B-61D0-4586-8898-49B52545550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596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6CE887-C52F-4B45-A507-7796F462DCB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Bin must detect trash levels using ultrasonic sensors</a:t>
            </a:r>
          </a:p>
          <a:p>
            <a:r>
              <a:rPr lang="en-US" dirty="0"/>
              <a:t> Must send real-time data to the cloud</a:t>
            </a:r>
          </a:p>
          <a:p>
            <a:r>
              <a:rPr lang="en-US" dirty="0"/>
              <a:t>  Must notify authorities when the bin is full </a:t>
            </a:r>
          </a:p>
          <a:p>
            <a:r>
              <a:rPr lang="en-US" dirty="0"/>
              <a:t> Must re-send alert if the bin is not cleaned by 5 PM </a:t>
            </a:r>
          </a:p>
          <a:p>
            <a:r>
              <a:rPr lang="en-US" dirty="0"/>
              <a:t> Should support multiple bins for city-wide scalability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0B002BE-768B-4847-AC7C-C48C65530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3808"/>
            <a:ext cx="10515600" cy="700115"/>
          </a:xfrm>
        </p:spPr>
        <p:txBody>
          <a:bodyPr/>
          <a:lstStyle/>
          <a:p>
            <a:r>
              <a:rPr lang="en-US" sz="2400" dirty="0"/>
              <a:t>System Requirement Specification (SRS) - Functional Requirements</a:t>
            </a:r>
          </a:p>
        </p:txBody>
      </p:sp>
    </p:spTree>
    <p:extLst>
      <p:ext uri="{BB962C8B-B14F-4D97-AF65-F5344CB8AC3E}">
        <p14:creationId xmlns:p14="http://schemas.microsoft.com/office/powerpoint/2010/main" val="228749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86EAB9-929E-4591-B472-FB12A77FF67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Low latency in data transmission </a:t>
            </a:r>
          </a:p>
          <a:p>
            <a:pPr marL="0" indent="0">
              <a:buNone/>
            </a:pPr>
            <a:r>
              <a:rPr lang="en-US" dirty="0"/>
              <a:t>Secure and scalable cloud storage </a:t>
            </a:r>
          </a:p>
          <a:p>
            <a:pPr marL="0" indent="0">
              <a:buNone/>
            </a:pPr>
            <a:r>
              <a:rPr lang="en-US" dirty="0"/>
              <a:t>Reliable communication protocol (MQTT) </a:t>
            </a:r>
          </a:p>
          <a:p>
            <a:pPr marL="0" indent="0">
              <a:buNone/>
            </a:pPr>
            <a:r>
              <a:rPr lang="en-US" dirty="0"/>
              <a:t>Energy-efficient operation with low power consumption </a:t>
            </a:r>
          </a:p>
          <a:p>
            <a:pPr marL="0" indent="0">
              <a:buNone/>
            </a:pPr>
            <a:r>
              <a:rPr lang="en-US" dirty="0"/>
              <a:t>User-friendly monitoring system for authorities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A969BC-76F4-4A26-9E93-F8E4F8E51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System Requirement Specification (SRS) - Non-Functional Requirements</a:t>
            </a:r>
          </a:p>
        </p:txBody>
      </p:sp>
    </p:spTree>
    <p:extLst>
      <p:ext uri="{BB962C8B-B14F-4D97-AF65-F5344CB8AC3E}">
        <p14:creationId xmlns:p14="http://schemas.microsoft.com/office/powerpoint/2010/main" val="2768850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ADF739-F46E-4C14-ADD5-524177A914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Architecture Diagram - Show system workflow from sensor data collection to notification </a:t>
            </a:r>
          </a:p>
          <a:p>
            <a:r>
              <a:rPr lang="en-US" dirty="0"/>
              <a:t> Hardware Design - ESP32 integration, sensor connections</a:t>
            </a:r>
          </a:p>
          <a:p>
            <a:r>
              <a:rPr lang="en-US" dirty="0"/>
              <a:t>  Software Design - Code structure, MQTT integration, data handling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006EFF-744D-4A13-9696-10C032852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System Design &amp; Implementation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9902B1-6553-480E-B179-43F63001D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388" y="1075765"/>
            <a:ext cx="5638800" cy="3767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902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F8E575-0992-4880-A7E1-493C74B4F7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Potential Risks: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9CF43-0113-4DF7-89E4-56BDD288B1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Sensor failure affecting data collection </a:t>
            </a:r>
          </a:p>
          <a:p>
            <a:r>
              <a:rPr lang="en-US" dirty="0"/>
              <a:t> Network disruptions leading to delayed notifications</a:t>
            </a:r>
          </a:p>
          <a:p>
            <a:r>
              <a:rPr lang="en-US" dirty="0"/>
              <a:t>  Unauthorized access compromising data integrity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2BDED4-A42A-4AC7-AC28-A5B00E58E2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Version Control with Git: Ensuring system updates and stability </a:t>
            </a:r>
          </a:p>
          <a:p>
            <a:r>
              <a:rPr lang="en-US" dirty="0"/>
              <a:t> System Configuration Management: Tracking changes in software and hardware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EFFC24-2855-47DD-B522-042C66C715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1800" dirty="0"/>
              <a:t>Risk Mitigation Strategies: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2F220A-EB54-46E1-8040-B091FEE75D8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Implement backup communication channels</a:t>
            </a:r>
          </a:p>
          <a:p>
            <a:r>
              <a:rPr lang="en-US" dirty="0"/>
              <a:t>  Ensure proper maintenance and sensor calibration </a:t>
            </a:r>
          </a:p>
          <a:p>
            <a:r>
              <a:rPr lang="en-US" dirty="0"/>
              <a:t> Use encryption for secure data transmission 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5CF146E-AEDE-48AA-A4FA-04127D3D7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Risk &amp; Configuration Management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F2AC9C4-F6FA-48AE-B7A1-FC69F5C7275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37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20983D-B8B4-4339-A11E-D02B398424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Efficiency: Optimized waste collection</a:t>
            </a:r>
          </a:p>
          <a:p>
            <a:r>
              <a:rPr lang="en-US" dirty="0"/>
              <a:t>  Cost-Effectiveness: Reduced operational costs</a:t>
            </a:r>
          </a:p>
          <a:p>
            <a:r>
              <a:rPr lang="en-US" dirty="0"/>
              <a:t>  Scalability: Expandable to other smart city initiatives </a:t>
            </a:r>
          </a:p>
          <a:p>
            <a:r>
              <a:rPr lang="en-US" dirty="0"/>
              <a:t> Environmental Benefits: Cleaner cities, reduced pollution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AFF1796-AF6B-41F2-9B1C-81FA3743F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Project Benefits &amp; Impact </a:t>
            </a:r>
          </a:p>
        </p:txBody>
      </p:sp>
    </p:spTree>
    <p:extLst>
      <p:ext uri="{BB962C8B-B14F-4D97-AF65-F5344CB8AC3E}">
        <p14:creationId xmlns:p14="http://schemas.microsoft.com/office/powerpoint/2010/main" val="1157530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099A-0176-4C3B-9F72-CA6C08ADE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Scheduling &amp; Gantt Chart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295B1F-607D-4857-AB36-8FB8A60CF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178" y="1532965"/>
            <a:ext cx="7649643" cy="458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304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A4448-4930-46E0-AD53-50021D9DC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Future Enhancements &amp; Conclusion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3F6824-E409-4436-9F53-FF50E9FB0C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AI-based waste sorting </a:t>
            </a:r>
          </a:p>
          <a:p>
            <a:r>
              <a:rPr lang="en-US" dirty="0"/>
              <a:t>• Solar-powered dustbins </a:t>
            </a:r>
          </a:p>
          <a:p>
            <a:r>
              <a:rPr lang="en-US" dirty="0"/>
              <a:t>• Mobile app integration for user monitoring </a:t>
            </a:r>
          </a:p>
          <a:p>
            <a:r>
              <a:rPr lang="en-US" dirty="0"/>
              <a:t>• Predictive analytics for better waste management </a:t>
            </a:r>
          </a:p>
          <a:p>
            <a:r>
              <a:rPr lang="en-US" dirty="0"/>
              <a:t>• Summary of project goals and implementation </a:t>
            </a:r>
          </a:p>
          <a:p>
            <a:r>
              <a:rPr lang="en-US" dirty="0"/>
              <a:t>• Questions and discussions • Thank you for your attention!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A59C11-3050-4901-B63B-0164B191B9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B3E842-8FD2-4058-A65D-625BC67D2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8838" y="2217254"/>
            <a:ext cx="4020111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534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6411253_LW_v2" id="{C590A786-F65F-42F6-9E48-12C78E3C86B3}" vid="{FEE92C9D-6350-4ECD-87A4-004D12BB2B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Geometric presentation</Template>
  <TotalTime>91</TotalTime>
  <Words>740</Words>
  <Application>Microsoft Office PowerPoint</Application>
  <PresentationFormat>Widescreen</PresentationFormat>
  <Paragraphs>105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Theme</vt:lpstr>
      <vt:lpstr>Course: System Design, Engineering, and Testing </vt:lpstr>
      <vt:lpstr>Course Overview </vt:lpstr>
      <vt:lpstr>Problem Statement</vt:lpstr>
      <vt:lpstr>System Components </vt:lpstr>
      <vt:lpstr>System Development Life Cycle (SDLC) - Planning &amp; Analysis </vt:lpstr>
      <vt:lpstr>System Development Life Cycle (SDLC) - Design &amp; Development </vt:lpstr>
      <vt:lpstr>System Development Life Cycle (SDLC) - Testing &amp; Deployment </vt:lpstr>
      <vt:lpstr>System Requirement Specification (SRS) - Functional Requirements</vt:lpstr>
      <vt:lpstr>System Requirement Specification (SRS) - Non-Functional Requirements</vt:lpstr>
      <vt:lpstr>System Design &amp; Implementation</vt:lpstr>
      <vt:lpstr>Risk &amp; Configuration Management </vt:lpstr>
      <vt:lpstr>Project Benefits &amp; Impact </vt:lpstr>
      <vt:lpstr>Project Scheduling &amp; Gantt Chart</vt:lpstr>
      <vt:lpstr>Future Enhancements &amp; 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sadiaislammou860@gmail.com</dc:creator>
  <cp:lastModifiedBy>Md.Zahid Hasan Sowrov</cp:lastModifiedBy>
  <cp:revision>5</cp:revision>
  <dcterms:created xsi:type="dcterms:W3CDTF">2025-03-24T19:38:07Z</dcterms:created>
  <dcterms:modified xsi:type="dcterms:W3CDTF">2025-03-25T04:52:04Z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